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28" r:id="rId1"/>
  </p:sldMasterIdLst>
  <p:sldIdLst>
    <p:sldId id="257" r:id="rId2"/>
    <p:sldId id="266" r:id="rId3"/>
    <p:sldId id="262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harv Pede" initials="AP" lastIdx="1" clrIdx="0">
    <p:extLst>
      <p:ext uri="{19B8F6BF-5375-455C-9EA6-DF929625EA0E}">
        <p15:presenceInfo xmlns:p15="http://schemas.microsoft.com/office/powerpoint/2012/main" userId="4dd8074624ffe72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5D2D492-6D40-4FC1-883B-6DAC77FB71A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89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D492-6D40-4FC1-883B-6DAC77FB71A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5D2D492-6D40-4FC1-883B-6DAC77FB71A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69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D492-6D40-4FC1-883B-6DAC77FB71A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8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D492-6D40-4FC1-883B-6DAC77FB71A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33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D492-6D40-4FC1-883B-6DAC77FB71A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23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D492-6D40-4FC1-883B-6DAC77FB71A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11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5D2D492-6D40-4FC1-883B-6DAC77FB71A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54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D492-6D40-4FC1-883B-6DAC77FB71A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9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D492-6D40-4FC1-883B-6DAC77FB71A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74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5D2D492-6D40-4FC1-883B-6DAC77FB71A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60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5D2D492-6D40-4FC1-883B-6DAC77FB71A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AF4B16B-CAB8-44C9-9BB3-364724E4C01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76530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30" r:id="rId2"/>
    <p:sldLayoutId id="2147484531" r:id="rId3"/>
    <p:sldLayoutId id="2147484532" r:id="rId4"/>
    <p:sldLayoutId id="2147484533" r:id="rId5"/>
    <p:sldLayoutId id="2147484534" r:id="rId6"/>
    <p:sldLayoutId id="2147484535" r:id="rId7"/>
    <p:sldLayoutId id="2147484536" r:id="rId8"/>
    <p:sldLayoutId id="2147484537" r:id="rId9"/>
    <p:sldLayoutId id="2147484538" r:id="rId10"/>
    <p:sldLayoutId id="214748453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C057-DF12-466D-92F4-FA64EBCE1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537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Income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88574-24F4-43AD-8A6C-1BD9324D1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4819"/>
            <a:ext cx="10515600" cy="41611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Problem Statement :</a:t>
            </a:r>
          </a:p>
          <a:p>
            <a:pPr marL="0" indent="0">
              <a:buNone/>
            </a:pPr>
            <a:r>
              <a:rPr lang="en-US" sz="2000" dirty="0"/>
              <a:t>The dataset contains income evaluation records of individuals from various countries. It includes demographic and employment-related attributes such as age, education, occupation and weekly working hours. The aim is to analyze these features and predict whether an individual earns more than $50K per year. 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800" b="1" dirty="0"/>
              <a:t>Objective :</a:t>
            </a:r>
          </a:p>
          <a:p>
            <a:pPr marL="0" indent="0">
              <a:buNone/>
            </a:pPr>
            <a:r>
              <a:rPr lang="en-US" sz="2000" dirty="0"/>
              <a:t>To perform data analysis to explore key patterns and insights from the dataset and build a machine learning model that predicts whether a person’s income exceeds $50K based on demographic and employment-related features.</a:t>
            </a:r>
          </a:p>
        </p:txBody>
      </p:sp>
    </p:spTree>
    <p:extLst>
      <p:ext uri="{BB962C8B-B14F-4D97-AF65-F5344CB8AC3E}">
        <p14:creationId xmlns:p14="http://schemas.microsoft.com/office/powerpoint/2010/main" val="1761519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5CC2-377D-4E1C-AEEE-F6709F915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14808"/>
          </a:xfrm>
        </p:spPr>
        <p:txBody>
          <a:bodyPr/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Data</a:t>
            </a:r>
            <a:r>
              <a:rPr lang="en-US" dirty="0"/>
              <a:t> </a:t>
            </a:r>
            <a:r>
              <a:rPr lang="en-US" sz="3600" b="1" dirty="0">
                <a:latin typeface="Arial Black" panose="020B0A04020102020204" pitchFamily="34" charset="0"/>
              </a:rPr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4B3D8-85AE-4122-BC65-6B4818561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5348"/>
          </a:xfrm>
        </p:spPr>
        <p:txBody>
          <a:bodyPr>
            <a:normAutofit/>
          </a:bodyPr>
          <a:lstStyle/>
          <a:p>
            <a:r>
              <a:rPr lang="en-US" dirty="0"/>
              <a:t>Removed </a:t>
            </a:r>
            <a:r>
              <a:rPr lang="en-US" b="1" dirty="0"/>
              <a:t>24 duplicate records</a:t>
            </a:r>
            <a:r>
              <a:rPr lang="en-US" dirty="0"/>
              <a:t> to ensure data quality.</a:t>
            </a:r>
          </a:p>
          <a:p>
            <a:r>
              <a:rPr lang="en-US" dirty="0"/>
              <a:t>Cleaned </a:t>
            </a:r>
            <a:r>
              <a:rPr lang="en-US" b="1" dirty="0"/>
              <a:t>column names</a:t>
            </a:r>
            <a:r>
              <a:rPr lang="en-US" dirty="0"/>
              <a:t> and </a:t>
            </a:r>
            <a:r>
              <a:rPr lang="en-US" b="1" dirty="0"/>
              <a:t>categorical entries</a:t>
            </a:r>
            <a:r>
              <a:rPr lang="en-US" dirty="0"/>
              <a:t> by removing unnecessary spaces.</a:t>
            </a:r>
          </a:p>
          <a:p>
            <a:r>
              <a:rPr lang="en-US" dirty="0"/>
              <a:t>Dropped </a:t>
            </a:r>
            <a:r>
              <a:rPr lang="en-US" b="1" dirty="0"/>
              <a:t>‘Unnamed: 15’</a:t>
            </a:r>
            <a:r>
              <a:rPr lang="en-US" dirty="0"/>
              <a:t> column containing </a:t>
            </a:r>
            <a:r>
              <a:rPr lang="en-US" b="1" dirty="0"/>
              <a:t>99% null values</a:t>
            </a:r>
            <a:r>
              <a:rPr lang="en-US" dirty="0"/>
              <a:t> as it added no useful information.</a:t>
            </a:r>
          </a:p>
          <a:p>
            <a:r>
              <a:rPr lang="en-US" dirty="0"/>
              <a:t>Replaced </a:t>
            </a:r>
            <a:r>
              <a:rPr lang="en-US" b="1" dirty="0"/>
              <a:t>‘?’</a:t>
            </a:r>
            <a:r>
              <a:rPr lang="en-US" dirty="0"/>
              <a:t> with missing values (</a:t>
            </a:r>
            <a:r>
              <a:rPr lang="en-US" b="1" dirty="0"/>
              <a:t>NaN</a:t>
            </a:r>
            <a:r>
              <a:rPr lang="en-US" dirty="0"/>
              <a:t>) and imputed missing values in </a:t>
            </a:r>
            <a:r>
              <a:rPr lang="en-US" b="1" dirty="0"/>
              <a:t>professionclass</a:t>
            </a:r>
            <a:r>
              <a:rPr lang="en-US" dirty="0"/>
              <a:t>, </a:t>
            </a:r>
            <a:r>
              <a:rPr lang="en-US" b="1" dirty="0"/>
              <a:t>occupation</a:t>
            </a:r>
            <a:r>
              <a:rPr lang="en-US" dirty="0"/>
              <a:t> and </a:t>
            </a:r>
            <a:r>
              <a:rPr lang="en-US" b="1" dirty="0"/>
              <a:t>country</a:t>
            </a:r>
            <a:r>
              <a:rPr lang="en-US" dirty="0"/>
              <a:t> using the </a:t>
            </a:r>
            <a:r>
              <a:rPr lang="en-US" b="1" dirty="0"/>
              <a:t>mode</a:t>
            </a:r>
            <a:r>
              <a:rPr lang="en-US" dirty="0"/>
              <a:t>.</a:t>
            </a:r>
          </a:p>
          <a:p>
            <a:r>
              <a:rPr lang="en-US" dirty="0"/>
              <a:t>Combined </a:t>
            </a:r>
            <a:r>
              <a:rPr lang="en-US" b="1" dirty="0"/>
              <a:t>rare categories (&lt;1%)</a:t>
            </a:r>
            <a:r>
              <a:rPr lang="en-US" dirty="0"/>
              <a:t> into an </a:t>
            </a:r>
            <a:r>
              <a:rPr lang="en-US" b="1" dirty="0"/>
              <a:t>“Others”</a:t>
            </a:r>
            <a:r>
              <a:rPr lang="en-US" dirty="0"/>
              <a:t> group to reduce noise and improve generalization.</a:t>
            </a:r>
          </a:p>
          <a:p>
            <a:r>
              <a:rPr lang="en-US" dirty="0"/>
              <a:t>Treated </a:t>
            </a:r>
            <a:r>
              <a:rPr lang="en-US" b="1" dirty="0"/>
              <a:t>outliers</a:t>
            </a:r>
            <a:r>
              <a:rPr lang="en-US" dirty="0"/>
              <a:t> using </a:t>
            </a:r>
            <a:r>
              <a:rPr lang="en-US" b="1" dirty="0"/>
              <a:t>log transformation </a:t>
            </a:r>
            <a:r>
              <a:rPr lang="en-US" dirty="0"/>
              <a:t>and</a:t>
            </a:r>
            <a:r>
              <a:rPr lang="en-US" b="1" dirty="0"/>
              <a:t> winsorization.</a:t>
            </a:r>
            <a:endParaRPr lang="en-US" dirty="0"/>
          </a:p>
          <a:p>
            <a:r>
              <a:rPr lang="en-US" dirty="0"/>
              <a:t>Created </a:t>
            </a:r>
            <a:r>
              <a:rPr lang="en-US" b="1" dirty="0"/>
              <a:t>two datasets - </a:t>
            </a:r>
            <a:r>
              <a:rPr lang="en-US" dirty="0"/>
              <a:t>one for </a:t>
            </a:r>
            <a:r>
              <a:rPr lang="en-US" b="1" dirty="0"/>
              <a:t>linear models</a:t>
            </a:r>
            <a:r>
              <a:rPr lang="en-US" dirty="0"/>
              <a:t> (scaled + one-hot encoded) and another for </a:t>
            </a:r>
            <a:r>
              <a:rPr lang="en-US" b="1" dirty="0"/>
              <a:t>tree-based models</a:t>
            </a:r>
            <a:r>
              <a:rPr lang="en-US" dirty="0"/>
              <a:t> (label encoded).</a:t>
            </a:r>
          </a:p>
          <a:p>
            <a:r>
              <a:rPr lang="en-US" dirty="0"/>
              <a:t>Applied </a:t>
            </a:r>
            <a:r>
              <a:rPr lang="en-US" b="1" dirty="0"/>
              <a:t>SMOTE </a:t>
            </a:r>
            <a:r>
              <a:rPr lang="en-US" dirty="0"/>
              <a:t>after train-test split to balance the income classes.</a:t>
            </a:r>
          </a:p>
        </p:txBody>
      </p:sp>
    </p:spTree>
    <p:extLst>
      <p:ext uri="{BB962C8B-B14F-4D97-AF65-F5344CB8AC3E}">
        <p14:creationId xmlns:p14="http://schemas.microsoft.com/office/powerpoint/2010/main" val="3988689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C057-DF12-466D-92F4-FA64EBCE1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537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88574-24F4-43AD-8A6C-1BD9324D1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43" y="2001079"/>
            <a:ext cx="10677939" cy="421419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Income distribution</a:t>
            </a:r>
            <a:r>
              <a:rPr lang="en-US" dirty="0"/>
              <a:t> is imbalanced majority earn </a:t>
            </a:r>
            <a:r>
              <a:rPr lang="en-US" b="1" dirty="0"/>
              <a:t>≤50K.</a:t>
            </a:r>
            <a:endParaRPr lang="en-US" dirty="0"/>
          </a:p>
          <a:p>
            <a:r>
              <a:rPr lang="en-US" dirty="0"/>
              <a:t>Individuals aged </a:t>
            </a:r>
            <a:r>
              <a:rPr lang="en-US" b="1" dirty="0"/>
              <a:t>30–50 years</a:t>
            </a:r>
            <a:r>
              <a:rPr lang="en-US" dirty="0"/>
              <a:t> are the most likely to earn </a:t>
            </a:r>
            <a:r>
              <a:rPr lang="en-US" b="1" dirty="0"/>
              <a:t>&gt;50K</a:t>
            </a:r>
            <a:r>
              <a:rPr lang="en-US" dirty="0"/>
              <a:t>, reflecting peak career years.</a:t>
            </a:r>
          </a:p>
          <a:p>
            <a:r>
              <a:rPr lang="en-US" b="1" dirty="0"/>
              <a:t>Married-civ-spouse</a:t>
            </a:r>
            <a:r>
              <a:rPr lang="en-US" dirty="0"/>
              <a:t> group shows strong earning potential, with nearly </a:t>
            </a:r>
            <a:r>
              <a:rPr lang="en-US" b="1" dirty="0"/>
              <a:t>45%</a:t>
            </a:r>
            <a:r>
              <a:rPr lang="en-US" dirty="0"/>
              <a:t> earning above 50K.</a:t>
            </a:r>
          </a:p>
          <a:p>
            <a:r>
              <a:rPr lang="en-US" b="1" dirty="0"/>
              <a:t>Doctorate</a:t>
            </a:r>
            <a:r>
              <a:rPr lang="en-US" dirty="0"/>
              <a:t> and </a:t>
            </a:r>
            <a:r>
              <a:rPr lang="en-US" b="1" dirty="0"/>
              <a:t>Professional School</a:t>
            </a:r>
            <a:r>
              <a:rPr lang="en-US" dirty="0"/>
              <a:t> graduates have the highest high-income share.</a:t>
            </a:r>
          </a:p>
          <a:p>
            <a:r>
              <a:rPr lang="en-US" b="1" dirty="0"/>
              <a:t>Exec-managerial (48%)</a:t>
            </a:r>
            <a:r>
              <a:rPr lang="en-US" dirty="0"/>
              <a:t> and </a:t>
            </a:r>
            <a:r>
              <a:rPr lang="en-US" b="1" dirty="0"/>
              <a:t>Prof-specialty (34%)</a:t>
            </a:r>
            <a:r>
              <a:rPr lang="en-US" dirty="0"/>
              <a:t> occupations dominate the higher income category.</a:t>
            </a:r>
          </a:p>
          <a:p>
            <a:r>
              <a:rPr lang="en-US" b="1" dirty="0"/>
              <a:t>Males (30.6%)</a:t>
            </a:r>
            <a:r>
              <a:rPr lang="en-US" dirty="0"/>
              <a:t> are significantly more likely to earn above 50K than </a:t>
            </a:r>
            <a:r>
              <a:rPr lang="en-US" b="1" dirty="0"/>
              <a:t>Females (11%)</a:t>
            </a:r>
            <a:r>
              <a:rPr lang="en-US" dirty="0"/>
              <a:t> highlighting a</a:t>
            </a:r>
          </a:p>
          <a:p>
            <a:pPr marL="0" indent="0">
              <a:buNone/>
            </a:pPr>
            <a:r>
              <a:rPr lang="en-US" dirty="0"/>
              <a:t>     gender gap.</a:t>
            </a:r>
          </a:p>
          <a:p>
            <a:r>
              <a:rPr lang="en-US" b="1" dirty="0"/>
              <a:t>Private sector</a:t>
            </a:r>
            <a:r>
              <a:rPr lang="en-US" dirty="0"/>
              <a:t> employs most individuals but </a:t>
            </a:r>
            <a:r>
              <a:rPr lang="en-US" b="1" dirty="0"/>
              <a:t>Self-Emp-Inc (56%)</a:t>
            </a:r>
            <a:r>
              <a:rPr lang="en-US" dirty="0"/>
              <a:t> shows higher income tendency.</a:t>
            </a:r>
          </a:p>
          <a:p>
            <a:r>
              <a:rPr lang="en-US" b="1" dirty="0"/>
              <a:t>Work hours &gt;40/week</a:t>
            </a:r>
            <a:r>
              <a:rPr lang="en-US" dirty="0"/>
              <a:t> correlate positively with higher income levels.</a:t>
            </a:r>
          </a:p>
          <a:p>
            <a:r>
              <a:rPr lang="en-US" b="1" dirty="0"/>
              <a:t>Capital gain/loss</a:t>
            </a:r>
            <a:r>
              <a:rPr lang="en-US" dirty="0"/>
              <a:t> values are heavily skewed, few high-income individuals show very large capital gains.</a:t>
            </a:r>
          </a:p>
          <a:p>
            <a:r>
              <a:rPr lang="en-US" b="1" dirty="0"/>
              <a:t>White</a:t>
            </a:r>
            <a:r>
              <a:rPr lang="en-US" dirty="0"/>
              <a:t> and </a:t>
            </a:r>
            <a:r>
              <a:rPr lang="en-US" b="1" dirty="0"/>
              <a:t>Asian-Pac-Islander</a:t>
            </a:r>
            <a:r>
              <a:rPr lang="en-US" dirty="0"/>
              <a:t> have the highest income proportions among races.</a:t>
            </a:r>
          </a:p>
        </p:txBody>
      </p:sp>
    </p:spTree>
    <p:extLst>
      <p:ext uri="{BB962C8B-B14F-4D97-AF65-F5344CB8AC3E}">
        <p14:creationId xmlns:p14="http://schemas.microsoft.com/office/powerpoint/2010/main" val="1142854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606B2-7D9F-4313-8167-1A70B1A8A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29658"/>
            <a:ext cx="11029616" cy="842558"/>
          </a:xfrm>
        </p:spPr>
        <p:txBody>
          <a:bodyPr/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XGBoost Modeling &amp;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B2B58-1725-4B48-86C0-3679E68D8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8443538" cy="3900339"/>
          </a:xfrm>
        </p:spPr>
        <p:txBody>
          <a:bodyPr/>
          <a:lstStyle/>
          <a:p>
            <a:r>
              <a:rPr lang="en-US" dirty="0"/>
              <a:t>We tried several models and after fine-tuning </a:t>
            </a:r>
            <a:r>
              <a:rPr lang="en-US" b="1" dirty="0"/>
              <a:t>XGBoost </a:t>
            </a:r>
            <a:r>
              <a:rPr lang="en-US" dirty="0"/>
              <a:t>performed the best.</a:t>
            </a:r>
          </a:p>
          <a:p>
            <a:r>
              <a:rPr lang="en-US" b="1" dirty="0"/>
              <a:t>Accuracy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84</a:t>
            </a:r>
            <a:r>
              <a:rPr lang="en-US" b="1" dirty="0"/>
              <a:t>% </a:t>
            </a:r>
            <a:r>
              <a:rPr lang="en-US" dirty="0"/>
              <a:t>it means overall predictions are solid though recall </a:t>
            </a:r>
            <a:r>
              <a:rPr lang="en-US"/>
              <a:t>and </a:t>
            </a:r>
            <a:r>
              <a:rPr lang="en-US" dirty="0"/>
              <a:t>f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/>
              <a:t> </a:t>
            </a:r>
            <a:r>
              <a:rPr lang="en-US" dirty="0"/>
              <a:t>give a clearer picture due to the imbalanced dataset.</a:t>
            </a:r>
          </a:p>
          <a:p>
            <a:r>
              <a:rPr lang="en-US" b="1" dirty="0"/>
              <a:t>Recall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84</a:t>
            </a:r>
            <a:r>
              <a:rPr lang="en-US" b="1" dirty="0"/>
              <a:t>% </a:t>
            </a:r>
            <a:r>
              <a:rPr lang="en-US" dirty="0"/>
              <a:t>it identifies most individuals earning more than 50K.</a:t>
            </a:r>
          </a:p>
          <a:p>
            <a:r>
              <a:rPr lang="en-US" b="1" dirty="0"/>
              <a:t>F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b="1" dirty="0"/>
              <a:t> score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72</a:t>
            </a:r>
            <a:r>
              <a:rPr lang="en-US" b="1" dirty="0"/>
              <a:t>%</a:t>
            </a:r>
            <a:r>
              <a:rPr lang="en-US" dirty="0"/>
              <a:t> it balances precision and recall effectively.</a:t>
            </a:r>
          </a:p>
          <a:p>
            <a:r>
              <a:rPr lang="en-US" b="1" dirty="0"/>
              <a:t>ROC-AUC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0.92</a:t>
            </a:r>
            <a:r>
              <a:rPr lang="en-US" b="1" dirty="0"/>
              <a:t> </a:t>
            </a:r>
            <a:r>
              <a:rPr lang="en-US" dirty="0"/>
              <a:t>which means model effectively distinguishes between individuals earning more than 50K and those earning  less.</a:t>
            </a:r>
          </a:p>
          <a:p>
            <a:r>
              <a:rPr lang="en-US" dirty="0"/>
              <a:t>The </a:t>
            </a:r>
            <a:r>
              <a:rPr lang="en-US" b="1" dirty="0"/>
              <a:t>XGBoost model</a:t>
            </a:r>
            <a:r>
              <a:rPr lang="en-US" dirty="0"/>
              <a:t> generalizes well, maintaining high recall and balanced performance despite class imbalance.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8A43761A-7BA4-43EB-A798-688C9B744D1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36278899"/>
              </p:ext>
            </p:extLst>
          </p:nvPr>
        </p:nvGraphicFramePr>
        <p:xfrm>
          <a:off x="9243083" y="2720117"/>
          <a:ext cx="2367724" cy="2916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900">
                  <a:extLst>
                    <a:ext uri="{9D8B030D-6E8A-4147-A177-3AD203B41FA5}">
                      <a16:colId xmlns:a16="http://schemas.microsoft.com/office/drawing/2014/main" val="160255503"/>
                    </a:ext>
                  </a:extLst>
                </a:gridCol>
                <a:gridCol w="1048824">
                  <a:extLst>
                    <a:ext uri="{9D8B030D-6E8A-4147-A177-3AD203B41FA5}">
                      <a16:colId xmlns:a16="http://schemas.microsoft.com/office/drawing/2014/main" val="4099322310"/>
                    </a:ext>
                  </a:extLst>
                </a:gridCol>
              </a:tblGrid>
              <a:tr h="583222">
                <a:tc>
                  <a:txBody>
                    <a:bodyPr/>
                    <a:lstStyle/>
                    <a:p>
                      <a:r>
                        <a:rPr lang="en-US" sz="1600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887937"/>
                  </a:ext>
                </a:extLst>
              </a:tr>
              <a:tr h="583222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716666"/>
                  </a:ext>
                </a:extLst>
              </a:tr>
              <a:tr h="583222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84</a:t>
                      </a:r>
                      <a:r>
                        <a:rPr lang="en-US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783570"/>
                  </a:ext>
                </a:extLst>
              </a:tr>
              <a:tr h="583222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ROC_AUC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9030"/>
                  </a:ext>
                </a:extLst>
              </a:tr>
              <a:tr h="583222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F1-Score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72</a:t>
                      </a:r>
                      <a:r>
                        <a:rPr lang="en-US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017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54175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Coupon_Recommendation</Template>
  <TotalTime>4759</TotalTime>
  <Words>482</Words>
  <Application>Microsoft Office PowerPoint</Application>
  <PresentationFormat>Widescreen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Gill Sans MT</vt:lpstr>
      <vt:lpstr>Wingdings 2</vt:lpstr>
      <vt:lpstr>Dividend</vt:lpstr>
      <vt:lpstr>Income Classification</vt:lpstr>
      <vt:lpstr>Data Preprocessing</vt:lpstr>
      <vt:lpstr>Data Analysis</vt:lpstr>
      <vt:lpstr>XGBoost Modeling &amp;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Income Classification</dc:title>
  <dc:creator>Atharv Pede</dc:creator>
  <cp:lastModifiedBy>Atharv Pede</cp:lastModifiedBy>
  <cp:revision>5</cp:revision>
  <dcterms:created xsi:type="dcterms:W3CDTF">2025-11-07T04:55:44Z</dcterms:created>
  <dcterms:modified xsi:type="dcterms:W3CDTF">2025-11-20T01:54:02Z</dcterms:modified>
</cp:coreProperties>
</file>