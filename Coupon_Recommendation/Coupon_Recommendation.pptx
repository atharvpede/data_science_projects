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28" r:id="rId1"/>
  </p:sldMasterIdLst>
  <p:sldIdLst>
    <p:sldId id="257" r:id="rId2"/>
    <p:sldId id="266" r:id="rId3"/>
    <p:sldId id="262" r:id="rId4"/>
    <p:sldId id="264" r:id="rId5"/>
    <p:sldId id="26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5D2D492-6D40-4FC1-883B-6DAC77FB71A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8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5D2D492-6D40-4FC1-883B-6DAC77FB71A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9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8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3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2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11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5D2D492-6D40-4FC1-883B-6DAC77FB71A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54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9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74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5D2D492-6D40-4FC1-883B-6DAC77FB71A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60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5D2D492-6D40-4FC1-883B-6DAC77FB71A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7653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30" r:id="rId2"/>
    <p:sldLayoutId id="2147484531" r:id="rId3"/>
    <p:sldLayoutId id="2147484532" r:id="rId4"/>
    <p:sldLayoutId id="2147484533" r:id="rId5"/>
    <p:sldLayoutId id="2147484534" r:id="rId6"/>
    <p:sldLayoutId id="2147484535" r:id="rId7"/>
    <p:sldLayoutId id="2147484536" r:id="rId8"/>
    <p:sldLayoutId id="2147484537" r:id="rId9"/>
    <p:sldLayoutId id="2147484538" r:id="rId10"/>
    <p:sldLayoutId id="214748453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C057-DF12-466D-92F4-FA64EBCE1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537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Coupon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88574-24F4-43AD-8A6C-1BD9324D1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4819"/>
            <a:ext cx="10515600" cy="4161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Problem Statement :</a:t>
            </a:r>
          </a:p>
          <a:p>
            <a:pPr marL="0" indent="0">
              <a:buNone/>
            </a:pPr>
            <a:r>
              <a:rPr lang="en-US" sz="2000" dirty="0"/>
              <a:t>The dataset collected via a survey on the Ecom website via Mechanical Turk. It captures various driving scenarios including destination, weather, passengers, coupon details and user attributes. It records whether the user chooses to accept a coupon. The challenge is to predict coupon acceptance based on these factors.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800" b="1" dirty="0"/>
              <a:t>Objective :</a:t>
            </a:r>
          </a:p>
          <a:p>
            <a:pPr marL="0" indent="0">
              <a:buNone/>
            </a:pPr>
            <a:r>
              <a:rPr lang="en-US" sz="2000" dirty="0"/>
              <a:t>To perform data analysis to explore key patterns and insights from the dataset and build a machine learning model that predicts whether a user will accept a coupon based on user attributes, coupon details and contextual factors.</a:t>
            </a:r>
          </a:p>
        </p:txBody>
      </p:sp>
    </p:spTree>
    <p:extLst>
      <p:ext uri="{BB962C8B-B14F-4D97-AF65-F5344CB8AC3E}">
        <p14:creationId xmlns:p14="http://schemas.microsoft.com/office/powerpoint/2010/main" val="1761519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5CC2-377D-4E1C-AEEE-F6709F915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14808"/>
          </a:xfrm>
        </p:spPr>
        <p:txBody>
          <a:bodyPr/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Data</a:t>
            </a:r>
            <a:r>
              <a:rPr lang="en-US" dirty="0"/>
              <a:t> </a:t>
            </a:r>
            <a:r>
              <a:rPr lang="en-US" sz="3600" b="1" dirty="0">
                <a:latin typeface="Arial Black" panose="020B0A04020102020204" pitchFamily="34" charset="0"/>
              </a:rPr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4B3D8-85AE-4122-BC65-6B4818561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5348"/>
          </a:xfrm>
        </p:spPr>
        <p:txBody>
          <a:bodyPr/>
          <a:lstStyle/>
          <a:p>
            <a:r>
              <a:rPr lang="en-US" b="1" dirty="0"/>
              <a:t>Removed 291 duplicate records</a:t>
            </a:r>
            <a:r>
              <a:rPr lang="en-US" dirty="0"/>
              <a:t> to ensure data quality.</a:t>
            </a:r>
          </a:p>
          <a:p>
            <a:r>
              <a:rPr lang="en-US" dirty="0"/>
              <a:t>Dropped the </a:t>
            </a:r>
            <a:r>
              <a:rPr lang="en-US" b="1" dirty="0"/>
              <a:t>Car column with 99% </a:t>
            </a:r>
            <a:r>
              <a:rPr lang="en-US" dirty="0"/>
              <a:t>missing values and filled other categorical missing data using the </a:t>
            </a:r>
            <a:r>
              <a:rPr lang="en-US" b="1" dirty="0"/>
              <a:t>mode</a:t>
            </a:r>
            <a:r>
              <a:rPr lang="en-US" dirty="0"/>
              <a:t>.</a:t>
            </a:r>
          </a:p>
          <a:p>
            <a:r>
              <a:rPr lang="en-US" dirty="0"/>
              <a:t>Checked </a:t>
            </a:r>
            <a:r>
              <a:rPr lang="en-US" b="1" dirty="0"/>
              <a:t>class balance:</a:t>
            </a:r>
            <a:r>
              <a:rPr lang="en-US" dirty="0"/>
              <a:t> 56% accepted vs 44% not accepted, imbalance not severe.</a:t>
            </a:r>
          </a:p>
          <a:p>
            <a:r>
              <a:rPr lang="en-US" dirty="0"/>
              <a:t>Dropped </a:t>
            </a:r>
            <a:r>
              <a:rPr lang="en-US" b="1" dirty="0"/>
              <a:t>direction_opposite</a:t>
            </a:r>
            <a:r>
              <a:rPr lang="en-US" dirty="0"/>
              <a:t> due to strong correlation with </a:t>
            </a:r>
            <a:r>
              <a:rPr lang="en-US" b="1" dirty="0"/>
              <a:t>direction_same.</a:t>
            </a:r>
          </a:p>
          <a:p>
            <a:r>
              <a:rPr lang="en-US" dirty="0"/>
              <a:t>Grouped </a:t>
            </a:r>
            <a:r>
              <a:rPr lang="en-US" b="1" dirty="0"/>
              <a:t>Occupation</a:t>
            </a:r>
            <a:r>
              <a:rPr lang="en-US" dirty="0"/>
              <a:t> into broader </a:t>
            </a:r>
            <a:r>
              <a:rPr lang="en-US" b="1" dirty="0"/>
              <a:t>sectors</a:t>
            </a:r>
            <a:r>
              <a:rPr lang="en-US" dirty="0"/>
              <a:t> to reduce high cardinality.</a:t>
            </a:r>
          </a:p>
          <a:p>
            <a:r>
              <a:rPr lang="en-US" dirty="0"/>
              <a:t>Combined </a:t>
            </a:r>
            <a:r>
              <a:rPr lang="en-US" b="1" dirty="0"/>
              <a:t>toCoupon_GEQ15min</a:t>
            </a:r>
            <a:r>
              <a:rPr lang="en-US" dirty="0"/>
              <a:t> and </a:t>
            </a:r>
            <a:r>
              <a:rPr lang="en-US" b="1" dirty="0"/>
              <a:t>toCoupon_GEQ25min</a:t>
            </a:r>
            <a:r>
              <a:rPr lang="en-US" dirty="0"/>
              <a:t> into a single feature </a:t>
            </a:r>
            <a:r>
              <a:rPr lang="en-US" b="1" dirty="0"/>
              <a:t>distance_driving.</a:t>
            </a:r>
          </a:p>
          <a:p>
            <a:r>
              <a:rPr lang="en-US" dirty="0"/>
              <a:t>Applied </a:t>
            </a:r>
            <a:r>
              <a:rPr lang="en-US" b="1" dirty="0"/>
              <a:t>Ordinal  Encoding </a:t>
            </a:r>
            <a:r>
              <a:rPr lang="en-US" dirty="0"/>
              <a:t>for ordered features and </a:t>
            </a:r>
            <a:r>
              <a:rPr lang="en-US" b="1" dirty="0"/>
              <a:t>One-Hot Encoding </a:t>
            </a:r>
            <a:r>
              <a:rPr lang="en-US" dirty="0"/>
              <a:t>for nominal features.</a:t>
            </a:r>
          </a:p>
          <a:p>
            <a:r>
              <a:rPr lang="en-US" b="1" dirty="0"/>
              <a:t>Scaled the final dataset</a:t>
            </a:r>
            <a:r>
              <a:rPr lang="en-US" dirty="0"/>
              <a:t> to bring all features to a similar range before model training.</a:t>
            </a:r>
          </a:p>
          <a:p>
            <a:r>
              <a:rPr lang="en-US" dirty="0"/>
              <a:t>Split data into </a:t>
            </a:r>
            <a:r>
              <a:rPr lang="en-US" b="1" dirty="0"/>
              <a:t>80% training</a:t>
            </a:r>
            <a:r>
              <a:rPr lang="en-US" dirty="0"/>
              <a:t> and </a:t>
            </a:r>
            <a:r>
              <a:rPr lang="en-US" b="1" dirty="0"/>
              <a:t>20% testing</a:t>
            </a:r>
            <a:r>
              <a:rPr lang="en-US" dirty="0"/>
              <a:t> sets.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689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C057-DF12-466D-92F4-FA64EBCE1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537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88574-24F4-43AD-8A6C-1BD9324D1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182" y="2001079"/>
            <a:ext cx="10515600" cy="3949148"/>
          </a:xfrm>
        </p:spPr>
        <p:txBody>
          <a:bodyPr>
            <a:normAutofit/>
          </a:bodyPr>
          <a:lstStyle/>
          <a:p>
            <a:r>
              <a:rPr lang="en-US" dirty="0"/>
              <a:t>Users with </a:t>
            </a:r>
            <a:r>
              <a:rPr lang="en-US" b="1" dirty="0"/>
              <a:t>No Urgent Place</a:t>
            </a:r>
            <a:r>
              <a:rPr lang="en-US" dirty="0"/>
              <a:t> destination accept the most coupons.</a:t>
            </a:r>
          </a:p>
          <a:p>
            <a:r>
              <a:rPr lang="en-US" b="1" dirty="0"/>
              <a:t>Travelling with Friends or Partner</a:t>
            </a:r>
            <a:r>
              <a:rPr lang="en-US" dirty="0"/>
              <a:t> greatly increases acceptance compared to Alone.</a:t>
            </a:r>
          </a:p>
          <a:p>
            <a:r>
              <a:rPr lang="en-US" b="1" dirty="0"/>
              <a:t>Carry-out &amp; Restaurant (&lt;$20)</a:t>
            </a:r>
            <a:r>
              <a:rPr lang="en-US" dirty="0"/>
              <a:t> coupons have the highest acceptance, while </a:t>
            </a:r>
            <a:r>
              <a:rPr lang="en-US" b="1" dirty="0"/>
              <a:t>Bar</a:t>
            </a:r>
            <a:r>
              <a:rPr lang="en-US" dirty="0"/>
              <a:t> coupons the lowest.</a:t>
            </a:r>
          </a:p>
          <a:p>
            <a:r>
              <a:rPr lang="en-US" b="1" dirty="0"/>
              <a:t>Longer coupon expiration</a:t>
            </a:r>
            <a:r>
              <a:rPr lang="en-US" dirty="0"/>
              <a:t> leads to higher acceptance.</a:t>
            </a:r>
          </a:p>
          <a:p>
            <a:r>
              <a:rPr lang="en-US" b="1" dirty="0"/>
              <a:t>Frequent visitors</a:t>
            </a:r>
            <a:r>
              <a:rPr lang="en-US" dirty="0"/>
              <a:t> to Bars, Coffee Houses and Restaurants are more likely to accept related coupons.</a:t>
            </a:r>
          </a:p>
          <a:p>
            <a:r>
              <a:rPr lang="en-US" b="1" dirty="0"/>
              <a:t>Acceptance remains high</a:t>
            </a:r>
            <a:r>
              <a:rPr lang="en-US" dirty="0"/>
              <a:t> even when users travel in the </a:t>
            </a:r>
            <a:r>
              <a:rPr lang="en-US" b="1" dirty="0"/>
              <a:t>opposite direction</a:t>
            </a:r>
            <a:r>
              <a:rPr lang="en-US" dirty="0"/>
              <a:t> of the venue if they have </a:t>
            </a:r>
            <a:r>
              <a:rPr lang="en-US" b="1" dirty="0"/>
              <a:t>no urgent place</a:t>
            </a:r>
            <a:r>
              <a:rPr lang="en-US" dirty="0"/>
              <a:t> to go.</a:t>
            </a:r>
          </a:p>
          <a:p>
            <a:r>
              <a:rPr lang="en-US" dirty="0"/>
              <a:t>Users are most likely to accept coupons when they are </a:t>
            </a:r>
            <a:r>
              <a:rPr lang="en-US" b="1" dirty="0"/>
              <a:t>with friends</a:t>
            </a:r>
            <a:r>
              <a:rPr lang="en-US" dirty="0"/>
              <a:t>, </a:t>
            </a:r>
            <a:r>
              <a:rPr lang="en-US" b="1" dirty="0"/>
              <a:t>not in a hurry</a:t>
            </a:r>
            <a:r>
              <a:rPr lang="en-US" dirty="0"/>
              <a:t> and the </a:t>
            </a:r>
            <a:r>
              <a:rPr lang="en-US" b="1" dirty="0"/>
              <a:t>offer is inexpensive, convenient and has longer validity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2854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06B2-7D9F-4313-8167-1A70B1A8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29658"/>
            <a:ext cx="11029616" cy="842558"/>
          </a:xfrm>
        </p:spPr>
        <p:txBody>
          <a:bodyPr/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XGBoost Modeling &amp;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B2B58-1725-4B48-86C0-3679E68D8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8443538" cy="3900339"/>
          </a:xfrm>
        </p:spPr>
        <p:txBody>
          <a:bodyPr/>
          <a:lstStyle/>
          <a:p>
            <a:r>
              <a:rPr lang="en-US" dirty="0"/>
              <a:t>We tried several models and after fine-tuning </a:t>
            </a:r>
            <a:r>
              <a:rPr lang="en-US" b="1" dirty="0"/>
              <a:t>XGBoost </a:t>
            </a:r>
            <a:r>
              <a:rPr lang="en-US" dirty="0"/>
              <a:t>performed the best.</a:t>
            </a:r>
          </a:p>
          <a:p>
            <a:r>
              <a:rPr lang="en-US" b="1" dirty="0"/>
              <a:t>Recall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82</a:t>
            </a:r>
            <a:r>
              <a:rPr lang="en-US" b="1" dirty="0"/>
              <a:t>% </a:t>
            </a:r>
            <a:r>
              <a:rPr lang="en-US" dirty="0"/>
              <a:t>It identifies most of the users who are likely to accept a coupon.</a:t>
            </a:r>
          </a:p>
          <a:p>
            <a:r>
              <a:rPr lang="en-US" b="1" dirty="0"/>
              <a:t>Precision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75</a:t>
            </a:r>
            <a:r>
              <a:rPr lang="en-US" b="1" dirty="0"/>
              <a:t>% </a:t>
            </a:r>
            <a:r>
              <a:rPr lang="en-US" dirty="0"/>
              <a:t>predictions of coupon acceptance are largely accurate.</a:t>
            </a:r>
          </a:p>
          <a:p>
            <a:r>
              <a:rPr lang="en-US" b="1" dirty="0"/>
              <a:t>F1 score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78</a:t>
            </a:r>
            <a:r>
              <a:rPr lang="en-US" b="1" dirty="0"/>
              <a:t>%</a:t>
            </a:r>
            <a:r>
              <a:rPr lang="en-US" dirty="0"/>
              <a:t> It balances precision and recall effectively.</a:t>
            </a:r>
          </a:p>
          <a:p>
            <a:r>
              <a:rPr lang="en-US" b="1" dirty="0"/>
              <a:t>ROC-AUC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0.81</a:t>
            </a:r>
            <a:r>
              <a:rPr lang="en-US" b="1" dirty="0"/>
              <a:t> </a:t>
            </a:r>
            <a:r>
              <a:rPr lang="en-US" dirty="0"/>
              <a:t>which means model effectively distinguishes between users who will accept and those who won’t.</a:t>
            </a:r>
          </a:p>
          <a:p>
            <a:r>
              <a:rPr lang="en-US" b="1" dirty="0"/>
              <a:t>Accuracy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74</a:t>
            </a:r>
            <a:r>
              <a:rPr lang="en-US" b="1" dirty="0"/>
              <a:t>% </a:t>
            </a:r>
            <a:r>
              <a:rPr lang="en-US" dirty="0"/>
              <a:t>it means overall predictions are solid though recall and precision give a clearer picture due to the imbalanced dataset.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76E6A82-9E86-4020-B3B6-2370D439B17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12067183"/>
              </p:ext>
            </p:extLst>
          </p:nvPr>
        </p:nvGraphicFramePr>
        <p:xfrm>
          <a:off x="9541398" y="2834704"/>
          <a:ext cx="2069410" cy="2686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948">
                  <a:extLst>
                    <a:ext uri="{9D8B030D-6E8A-4147-A177-3AD203B41FA5}">
                      <a16:colId xmlns:a16="http://schemas.microsoft.com/office/drawing/2014/main" val="1452820526"/>
                    </a:ext>
                  </a:extLst>
                </a:gridCol>
                <a:gridCol w="863462">
                  <a:extLst>
                    <a:ext uri="{9D8B030D-6E8A-4147-A177-3AD203B41FA5}">
                      <a16:colId xmlns:a16="http://schemas.microsoft.com/office/drawing/2014/main" val="2492498114"/>
                    </a:ext>
                  </a:extLst>
                </a:gridCol>
              </a:tblGrid>
              <a:tr h="448216">
                <a:tc>
                  <a:txBody>
                    <a:bodyPr/>
                    <a:lstStyle/>
                    <a:p>
                      <a:r>
                        <a:rPr lang="en-US" sz="1600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401777"/>
                  </a:ext>
                </a:extLst>
              </a:tr>
              <a:tr h="44821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539173"/>
                  </a:ext>
                </a:extLst>
              </a:tr>
              <a:tr h="44821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  <a:r>
                        <a:rPr lang="en-US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550293"/>
                  </a:ext>
                </a:extLst>
              </a:tr>
              <a:tr h="44821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F1-Score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78</a:t>
                      </a:r>
                      <a:r>
                        <a:rPr lang="en-US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785083"/>
                  </a:ext>
                </a:extLst>
              </a:tr>
              <a:tr h="44585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ROC_AUC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639328"/>
                  </a:ext>
                </a:extLst>
              </a:tr>
              <a:tr h="448216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74</a:t>
                      </a:r>
                      <a:r>
                        <a:rPr lang="en-US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457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541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42AC1-99FE-488E-9D40-8096FFBDA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29658"/>
            <a:ext cx="11029616" cy="7646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Business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200E4-A8CD-4D5C-B147-E685A091B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7264093" cy="3900339"/>
          </a:xfrm>
        </p:spPr>
        <p:txBody>
          <a:bodyPr>
            <a:normAutofit/>
          </a:bodyPr>
          <a:lstStyle/>
          <a:p>
            <a:r>
              <a:rPr lang="en-US" b="1" dirty="0"/>
              <a:t>Restaurant &lt; $20 </a:t>
            </a:r>
            <a:r>
              <a:rPr lang="en-US" dirty="0"/>
              <a:t>and </a:t>
            </a:r>
            <a:r>
              <a:rPr lang="en-US" b="1" dirty="0"/>
              <a:t>Carry-Out</a:t>
            </a:r>
            <a:r>
              <a:rPr lang="en-US" dirty="0"/>
              <a:t> coupons are the most influential features meaning these types of offers have the highest chance of being redeemed.</a:t>
            </a:r>
          </a:p>
          <a:p>
            <a:r>
              <a:rPr lang="en-US" dirty="0"/>
              <a:t>Longer </a:t>
            </a:r>
            <a:r>
              <a:rPr lang="en-US" b="1" dirty="0"/>
              <a:t>coupon expiration</a:t>
            </a:r>
            <a:r>
              <a:rPr lang="en-US" dirty="0"/>
              <a:t> is a key factor  users prefer offers that are flexible and convenient showing that validity directly impact acceptance.</a:t>
            </a:r>
          </a:p>
          <a:p>
            <a:r>
              <a:rPr lang="en-US" dirty="0"/>
              <a:t>Coupons are more likely to be used by users with </a:t>
            </a:r>
            <a:r>
              <a:rPr lang="en-US" b="1" dirty="0"/>
              <a:t>no urgent destination</a:t>
            </a:r>
            <a:r>
              <a:rPr lang="en-US" dirty="0"/>
              <a:t> or traveling </a:t>
            </a:r>
            <a:r>
              <a:rPr lang="en-US" b="1" dirty="0"/>
              <a:t>toward the venue</a:t>
            </a:r>
            <a:r>
              <a:rPr lang="en-US" dirty="0"/>
              <a:t>.</a:t>
            </a:r>
          </a:p>
          <a:p>
            <a:r>
              <a:rPr lang="en-US" dirty="0"/>
              <a:t>Focus coupon campaigns on users with </a:t>
            </a:r>
            <a:r>
              <a:rPr lang="en-US" b="1" dirty="0"/>
              <a:t>favorable travel context </a:t>
            </a:r>
            <a:r>
              <a:rPr lang="en-US" dirty="0"/>
              <a:t>and companions. </a:t>
            </a:r>
          </a:p>
          <a:p>
            <a:r>
              <a:rPr lang="en-US" b="1" dirty="0"/>
              <a:t>Focus on habitual visitors</a:t>
            </a:r>
            <a:r>
              <a:rPr lang="en-US" dirty="0"/>
              <a:t> for venue-specific coupons to maximize impact.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4AB68B-24D7-4574-BE4F-89D736433B7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285" y="2068237"/>
            <a:ext cx="3904497" cy="390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23658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1724</TotalTime>
  <Words>559</Words>
  <Application>Microsoft Office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Gill Sans MT</vt:lpstr>
      <vt:lpstr>Wingdings 2</vt:lpstr>
      <vt:lpstr>Dividend</vt:lpstr>
      <vt:lpstr>Coupon Recommendation</vt:lpstr>
      <vt:lpstr>Data Preprocessing</vt:lpstr>
      <vt:lpstr>Data Analysis</vt:lpstr>
      <vt:lpstr>XGBoost Modeling &amp; Performance</vt:lpstr>
      <vt:lpstr>Business Insights &amp;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Coupon Recommendation</dc:title>
  <dc:creator>Atharv Pede</dc:creator>
  <cp:lastModifiedBy>Atharv Pede</cp:lastModifiedBy>
  <cp:revision>8</cp:revision>
  <dcterms:created xsi:type="dcterms:W3CDTF">2025-10-11T08:04:37Z</dcterms:created>
  <dcterms:modified xsi:type="dcterms:W3CDTF">2025-10-13T13:20:18Z</dcterms:modified>
</cp:coreProperties>
</file>